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C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PROJECT SPOTLIGHT  /  FINANCIAL REPORTING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01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024128"/>
            <a:ext cx="1874519" cy="347472"/>
          </a:xfrm>
          <a:prstGeom prst="roundRect">
            <a:avLst>
              <a:gd name="adj" fmla="val 12000"/>
            </a:avLst>
          </a:prstGeom>
          <a:solidFill>
            <a:srgbClr val="244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1042415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7E7C0"/>
                </a:solidFill>
                <a:latin typeface="Inter"/>
              </a:rPr>
              <a:t>COMPANY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10512"/>
            <a:ext cx="829360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Inter"/>
              </a:rPr>
              <a:t>BEYOND</a:t>
            </a:r>
          </a:p>
          <a:p>
            <a:pPr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6200" b="1" i="0">
                <a:solidFill>
                  <a:srgbClr val="FFFFFF"/>
                </a:solidFill>
                <a:latin typeface="Inter"/>
              </a:rPr>
              <a:t>THE RATIOS.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6072" y="4581144"/>
            <a:ext cx="2295144" cy="0"/>
          </a:xfrm>
          <a:prstGeom prst="line">
            <a:avLst/>
          </a:prstGeom>
          <a:ln w="63500">
            <a:solidFill>
              <a:srgbClr val="1BCA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6072" y="4828032"/>
            <a:ext cx="786384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Inter"/>
              </a:rPr>
              <a:t>Financial Performance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5440680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BD69"/>
                </a:solidFill>
                <a:latin typeface="Inter"/>
              </a:rPr>
              <a:t>INOX WIND  ×  SUZLON ENERGY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6035040"/>
            <a:ext cx="7269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A8B9C5"/>
                </a:solidFill>
                <a:latin typeface="Inter"/>
              </a:rPr>
              <a:t>FY 2023–24  —  FY 2025–26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7123176" y="7589520"/>
            <a:ext cx="118872" cy="2523744"/>
          </a:xfrm>
          <a:prstGeom prst="line">
            <a:avLst/>
          </a:prstGeom>
          <a:ln w="29209">
            <a:solidFill>
              <a:srgbClr val="34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7242048" y="6080760"/>
            <a:ext cx="0" cy="1508760"/>
          </a:xfrm>
          <a:prstGeom prst="line">
            <a:avLst/>
          </a:prstGeom>
          <a:ln w="38100">
            <a:solidFill>
              <a:srgbClr val="34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5961888" y="7589520"/>
            <a:ext cx="1280160" cy="777240"/>
          </a:xfrm>
          <a:prstGeom prst="line">
            <a:avLst/>
          </a:prstGeom>
          <a:ln w="38100">
            <a:solidFill>
              <a:srgbClr val="34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242048" y="7589520"/>
            <a:ext cx="1225296" cy="749808"/>
          </a:xfrm>
          <a:prstGeom prst="line">
            <a:avLst/>
          </a:prstGeom>
          <a:ln w="38100">
            <a:solidFill>
              <a:srgbClr val="34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7168896" y="7516368"/>
            <a:ext cx="146304" cy="146304"/>
          </a:xfrm>
          <a:prstGeom prst="ellipse">
            <a:avLst/>
          </a:prstGeom>
          <a:solidFill>
            <a:srgbClr val="3453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5369356" y="8385048"/>
            <a:ext cx="71324" cy="1514246"/>
          </a:xfrm>
          <a:prstGeom prst="line">
            <a:avLst/>
          </a:prstGeom>
          <a:ln w="29209">
            <a:solidFill>
              <a:srgbClr val="25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5440680" y="7479792"/>
            <a:ext cx="0" cy="905256"/>
          </a:xfrm>
          <a:prstGeom prst="line">
            <a:avLst/>
          </a:prstGeom>
          <a:ln w="38100">
            <a:solidFill>
              <a:srgbClr val="25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4672584" y="8385048"/>
            <a:ext cx="768096" cy="466344"/>
          </a:xfrm>
          <a:prstGeom prst="line">
            <a:avLst/>
          </a:prstGeom>
          <a:ln w="38100">
            <a:solidFill>
              <a:srgbClr val="25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440680" y="8385048"/>
            <a:ext cx="735177" cy="449884"/>
          </a:xfrm>
          <a:prstGeom prst="line">
            <a:avLst/>
          </a:prstGeom>
          <a:ln w="38100">
            <a:solidFill>
              <a:srgbClr val="2541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396788" y="8341156"/>
            <a:ext cx="87782" cy="87782"/>
          </a:xfrm>
          <a:prstGeom prst="ellipse">
            <a:avLst/>
          </a:prstGeom>
          <a:solidFill>
            <a:srgbClr val="254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" y="7552944"/>
            <a:ext cx="4919472" cy="1901952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7808975"/>
            <a:ext cx="44622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CAA7"/>
                </a:solidFill>
                <a:latin typeface="Inter"/>
              </a:rPr>
              <a:t>THE CORE 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8165592"/>
            <a:ext cx="4325112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FFFFFF"/>
                </a:solidFill>
                <a:latin typeface="Inter"/>
              </a:rPr>
              <a:t>Can healthier balance-sheet ratios hide a cash-flow problem?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02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9886"/>
                </a:solidFill>
                <a:latin typeface="Inter"/>
              </a:rPr>
              <a:t>RESEARCH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A focused comparison,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not just a ratio exercise.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7485"/>
                </a:solidFill>
                <a:latin typeface="Inter"/>
              </a:rPr>
              <a:t>Consolidated financial statements for FY 2023–24 through FY 2025–26.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236976"/>
            <a:ext cx="2606040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3374136"/>
            <a:ext cx="19202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02239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41422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COMPANIES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73552" y="3236976"/>
            <a:ext cx="2606040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3374136"/>
            <a:ext cx="19202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02239"/>
                </a:solidFill>
                <a:latin typeface="Inter"/>
              </a:rPr>
              <a:t>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41422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FINANCIAL RATIOS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0176" y="3236976"/>
            <a:ext cx="2606040" cy="142646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3374136"/>
            <a:ext cx="1920240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02239"/>
                </a:solidFill>
                <a:latin typeface="Inter"/>
              </a:rPr>
              <a:t>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81344" y="414223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CALCULATIONS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010912"/>
            <a:ext cx="8037575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5010912"/>
            <a:ext cx="91440" cy="1371600"/>
          </a:xfrm>
          <a:prstGeom prst="rect">
            <a:avLst/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257800"/>
            <a:ext cx="6035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CAA7"/>
                </a:solidFill>
                <a:latin typeface="Inter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5184648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239"/>
                </a:solidFill>
                <a:latin typeface="Inter"/>
              </a:rPr>
              <a:t>LIQUIDITY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669280"/>
            <a:ext cx="6309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485"/>
                </a:solidFill>
                <a:latin typeface="Inter"/>
              </a:rPr>
              <a:t>Current ratio   •   Quick ratio   •   Cash ratio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6611112"/>
            <a:ext cx="8037575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6611112"/>
            <a:ext cx="91440" cy="1371600"/>
          </a:xfrm>
          <a:prstGeom prst="rect">
            <a:avLst/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6858000"/>
            <a:ext cx="6035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C58B3A"/>
                </a:solidFill>
                <a:latin typeface="Inter"/>
              </a:rPr>
              <a:t>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6784848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239"/>
                </a:solidFill>
                <a:latin typeface="Inter"/>
              </a:rPr>
              <a:t>PROFITABILITY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91640" y="7269480"/>
            <a:ext cx="6309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485"/>
                </a:solidFill>
                <a:latin typeface="Inter"/>
              </a:rPr>
              <a:t>Operating ratio   •   Net profit margin   •   Return on equity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8211312"/>
            <a:ext cx="8037575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8211312"/>
            <a:ext cx="91440" cy="1371600"/>
          </a:xfrm>
          <a:prstGeom prst="rect">
            <a:avLst/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8458200"/>
            <a:ext cx="6035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BCAA7"/>
                </a:solidFill>
                <a:latin typeface="Inter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8385048"/>
            <a:ext cx="63093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02239"/>
                </a:solidFill>
                <a:latin typeface="Inter"/>
              </a:rPr>
              <a:t>SOLVENCY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91640" y="8869680"/>
            <a:ext cx="6309360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7485"/>
                </a:solidFill>
                <a:latin typeface="Inter"/>
              </a:rPr>
              <a:t>Debt–equity ratio   •   Interest coverage   •   Proprietary ratio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9957816"/>
            <a:ext cx="8037575" cy="512064"/>
          </a:xfrm>
          <a:prstGeom prst="roundRect">
            <a:avLst>
              <a:gd name="adj" fmla="val 12000"/>
            </a:avLst>
          </a:prstGeom>
          <a:solidFill>
            <a:srgbClr val="E3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10076688"/>
            <a:ext cx="76260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8746B"/>
                </a:solidFill>
                <a:latin typeface="Inter"/>
              </a:rPr>
              <a:t>Sources: companies’ annual reports and Screener; methodologies disclosed in the companion brief.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C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03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CAA7"/>
                </a:solidFill>
                <a:latin typeface="Inter"/>
              </a:rPr>
              <a:t>LIQUIDITY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Stronger coverage.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Not stronger cash.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9C5"/>
                </a:solidFill>
                <a:latin typeface="Inter"/>
              </a:rPr>
              <a:t>FY 2025–26 comparison • values expressed in times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136392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CURRENT RATIO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176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3831336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47088" y="3831336"/>
            <a:ext cx="4727362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3739896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2.01×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022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088" y="431596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47088" y="4315968"/>
            <a:ext cx="3880671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422452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1.65×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138928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340096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QUICK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8201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47088" y="5833872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47088" y="5833872"/>
            <a:ext cx="4658230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6" y="5742432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1.52×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3047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47088" y="6318504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47088" y="6318504"/>
            <a:ext cx="3309795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7456" y="6227064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1.08×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7141464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7342631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CASH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78226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47088" y="783640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47088" y="7836408"/>
            <a:ext cx="1585943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77456" y="774496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0.0345×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83073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088" y="8321040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088" y="8321040"/>
            <a:ext cx="4757831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8229600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0.1035×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9363456"/>
            <a:ext cx="8083296" cy="1179576"/>
          </a:xfrm>
          <a:prstGeom prst="roundRect">
            <a:avLst>
              <a:gd name="adj" fmla="val 12000"/>
            </a:avLst>
          </a:prstGeom>
          <a:solidFill>
            <a:srgbClr val="2140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95280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7E7C0"/>
                </a:solidFill>
                <a:latin typeface="Inter"/>
              </a:rPr>
              <a:t>WHAT MATTERS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9838944"/>
            <a:ext cx="7461504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Inter"/>
              </a:rPr>
              <a:t>Inox had ₹4,249.84 cr in trade receivables, or 55.83% of current assets.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04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9886"/>
                </a:solidFill>
                <a:latin typeface="Inter"/>
              </a:rPr>
              <a:t>PROFITABILITY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Suzlon leads on returns.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But earnings need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7485"/>
                </a:solidFill>
                <a:latin typeface="Inter"/>
              </a:rPr>
              <a:t>FY 2025–26 comparison • reported ratios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136392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239"/>
                </a:solidFill>
                <a:latin typeface="Inter"/>
              </a:rPr>
              <a:t>NET PROFIT MARGIN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176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INOX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3831336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47088" y="3831336"/>
            <a:ext cx="2581410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3739896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10.21%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022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SUZLON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088" y="431596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47088" y="4315968"/>
            <a:ext cx="4796215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422452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18.97%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138928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340096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239"/>
                </a:solidFill>
                <a:latin typeface="Inter"/>
              </a:rPr>
              <a:t>RETURN ON EQUITY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8201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INOX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47088" y="5833872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47088" y="5833872"/>
            <a:ext cx="861925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6" y="5742432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7.50%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3047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SUZLON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47088" y="6318504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47088" y="6318504"/>
            <a:ext cx="4670489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7456" y="6227064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40.64%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7141464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7342631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02239"/>
                </a:solidFill>
                <a:latin typeface="Inter"/>
              </a:rPr>
              <a:t>OPERATING RATIO  •  LOWER IS BETTER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78226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INOX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47088" y="783640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47088" y="7836408"/>
            <a:ext cx="4637810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77456" y="774496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84.38%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83073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SUZLON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088" y="8321040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E9EE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088" y="8321040"/>
            <a:ext cx="4622421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8229600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02239"/>
                </a:solidFill>
                <a:latin typeface="Inter"/>
              </a:rPr>
              <a:t>84.10%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9363456"/>
            <a:ext cx="8083296" cy="1170432"/>
          </a:xfrm>
          <a:prstGeom prst="roundRect">
            <a:avLst>
              <a:gd name="adj" fmla="val 12000"/>
            </a:avLst>
          </a:prstGeom>
          <a:solidFill>
            <a:srgbClr val="FFF0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95097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96217"/>
                </a:solidFill>
                <a:latin typeface="Inter"/>
              </a:rPr>
              <a:t>THE EARNINGS-QUALITY CAVEAT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9820656"/>
            <a:ext cx="7342631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239"/>
                </a:solidFill>
                <a:latin typeface="Inter"/>
              </a:rPr>
              <a:t>Suzlon’s FY26 reported net profit includes a ₹741.67 cr net tax credit.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C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05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CAA7"/>
                </a:solidFill>
                <a:latin typeface="Inter"/>
              </a:rPr>
              <a:t>FINANCIAL STABILITY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Interest coverage tells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a stronger Suzlon story.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9C5"/>
                </a:solidFill>
                <a:latin typeface="Inter"/>
              </a:rPr>
              <a:t>FY 2025–26 • long-term stability and financing mix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136392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333756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INTEREST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38176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7088" y="3831336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847088" y="3831336"/>
            <a:ext cx="3245301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77456" y="3739896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4.30×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30225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847088" y="431596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1847088" y="4315968"/>
            <a:ext cx="4709460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77456" y="422452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6.24×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" y="5138928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5340096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PROPRIETARY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" y="582015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847088" y="5833872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847088" y="5833872"/>
            <a:ext cx="4692022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77456" y="5742432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52.89%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" y="6304788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47088" y="6318504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847088" y="6318504"/>
            <a:ext cx="4448949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7456" y="6227064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50.15%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" y="7141464"/>
            <a:ext cx="8083296" cy="1828800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" y="7342631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LONG-TERM DEBT–EQUITY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" y="782269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INOX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847088" y="7836408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847088" y="7836408"/>
            <a:ext cx="4540434" cy="16459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77456" y="7744968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0.0431×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" y="830732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SUZLON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847088" y="8321040"/>
            <a:ext cx="5056632" cy="164592"/>
          </a:xfrm>
          <a:prstGeom prst="roundRect">
            <a:avLst>
              <a:gd name="adj" fmla="val 12000"/>
            </a:avLst>
          </a:prstGeom>
          <a:solidFill>
            <a:srgbClr val="2036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847088" y="8321040"/>
            <a:ext cx="1148276" cy="16459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77456" y="8229600"/>
            <a:ext cx="12527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Inter"/>
              </a:rPr>
              <a:t>0.0109×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0352" y="9363456"/>
            <a:ext cx="8083296" cy="1170432"/>
          </a:xfrm>
          <a:prstGeom prst="roundRect">
            <a:avLst>
              <a:gd name="adj" fmla="val 12000"/>
            </a:avLst>
          </a:prstGeom>
          <a:solidFill>
            <a:srgbClr val="283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5528" y="9518904"/>
            <a:ext cx="6400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D69"/>
                </a:solidFill>
                <a:latin typeface="Inter"/>
              </a:rPr>
              <a:t>READ THE DEFINITION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9829800"/>
            <a:ext cx="73792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Inter"/>
              </a:rPr>
              <a:t>This debt–equity measure excludes current maturities and leases; low ≠ debt-free.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F5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FINANCIAL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07485"/>
                </a:solidFill>
                <a:latin typeface="Inter"/>
              </a:rPr>
              <a:t>06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D8E0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0748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29886"/>
                </a:solidFill>
                <a:latin typeface="Inter"/>
              </a:rPr>
              <a:t>KEY FINDING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Profitable on paper.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02239"/>
                </a:solidFill>
                <a:latin typeface="Inter"/>
              </a:rPr>
              <a:t>Cash under pressure.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7485"/>
                </a:solidFill>
                <a:latin typeface="Inter"/>
              </a:rPr>
              <a:t>Inox Wind • FY 2025–26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136392"/>
            <a:ext cx="3922776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08576" y="3136392"/>
            <a:ext cx="3968496" cy="2103120"/>
          </a:xfrm>
          <a:prstGeom prst="roundRect">
            <a:avLst>
              <a:gd name="adj" fmla="val 12000"/>
            </a:avLst>
          </a:prstGeom>
          <a:solidFill>
            <a:srgbClr val="FFE7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" y="3465576"/>
            <a:ext cx="33375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607485"/>
                </a:solidFill>
                <a:latin typeface="Inter"/>
              </a:rPr>
              <a:t>NET PROFIT AFTER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3904487"/>
            <a:ext cx="3328416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102239"/>
                </a:solidFill>
                <a:latin typeface="Inter"/>
              </a:rPr>
              <a:t>₹449.10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" y="4663440"/>
            <a:ext cx="33284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CRORE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82896" y="3465576"/>
            <a:ext cx="34290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B65B62"/>
                </a:solidFill>
                <a:latin typeface="Inter"/>
              </a:rPr>
              <a:t>OPERATING CASH 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3904487"/>
            <a:ext cx="3529584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>
                <a:solidFill>
                  <a:srgbClr val="BE4853"/>
                </a:solidFill>
                <a:latin typeface="Inter"/>
              </a:rPr>
              <a:t>−₹598.12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82896" y="4663440"/>
            <a:ext cx="3328416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65B62"/>
                </a:solidFill>
                <a:latin typeface="Inter"/>
              </a:rPr>
              <a:t>CRORE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5687568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2239"/>
                </a:solidFill>
                <a:latin typeface="Inter"/>
              </a:rPr>
              <a:t>THREE-YEAR OPERATING CASH FLOW  /  ₹ CRORE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" y="6144768"/>
            <a:ext cx="7882127" cy="2743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060704" y="7296912"/>
            <a:ext cx="7068312" cy="0"/>
          </a:xfrm>
          <a:prstGeom prst="line">
            <a:avLst/>
          </a:prstGeom>
          <a:ln w="19050">
            <a:solidFill>
              <a:srgbClr val="B7C7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1536192" y="7296912"/>
            <a:ext cx="768096" cy="612487"/>
          </a:xfrm>
          <a:prstGeom prst="roundRect">
            <a:avLst>
              <a:gd name="adj" fmla="val 12000"/>
            </a:avLst>
          </a:prstGeom>
          <a:solidFill>
            <a:srgbClr val="FF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7927687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258"/>
                </a:solidFill>
                <a:latin typeface="Inter"/>
              </a:rPr>
              <a:t>-366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84947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FY24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069080" y="7087975"/>
            <a:ext cx="768096" cy="208936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21608" y="6676495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18C7E"/>
                </a:solidFill>
                <a:latin typeface="Inter"/>
              </a:rPr>
              <a:t>+138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04488" y="84947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FY25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2824" y="7296912"/>
            <a:ext cx="768096" cy="999839"/>
          </a:xfrm>
          <a:prstGeom prst="roundRect">
            <a:avLst>
              <a:gd name="adj" fmla="val 12000"/>
            </a:avLst>
          </a:prstGeom>
          <a:solidFill>
            <a:srgbClr val="FF77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45352" y="8315039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5258"/>
                </a:solidFill>
                <a:latin typeface="Inter"/>
              </a:rPr>
              <a:t>-598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28232" y="8494776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07485"/>
                </a:solidFill>
                <a:latin typeface="Inter"/>
              </a:rPr>
              <a:t>FY26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9281160"/>
            <a:ext cx="8037575" cy="1188720"/>
          </a:xfrm>
          <a:prstGeom prst="roundRect">
            <a:avLst>
              <a:gd name="adj" fmla="val 12000"/>
            </a:avLst>
          </a:prstGeom>
          <a:solidFill>
            <a:srgbClr val="E3F9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9436608"/>
            <a:ext cx="71323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8E7A"/>
                </a:solidFill>
                <a:latin typeface="Inter"/>
              </a:rPr>
              <a:t>WHY THE GAP?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" y="9729216"/>
            <a:ext cx="7296912" cy="5577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02239"/>
                </a:solidFill>
                <a:latin typeface="Inter"/>
              </a:rPr>
              <a:t>Receivables and inventory tie up capital. Accounting profit is not the same as cash collected.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1430000"/>
          </a:xfrm>
          <a:prstGeom prst="rect">
            <a:avLst/>
          </a:prstGeom>
          <a:solidFill>
            <a:srgbClr val="0C1B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384048"/>
            <a:ext cx="640080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MANAGEMENT RECOMMENDATIONS  /  ANALYST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18120" y="384048"/>
            <a:ext cx="80467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07 / 07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21207" y="10890504"/>
            <a:ext cx="8110729" cy="0"/>
          </a:xfrm>
          <a:prstGeom prst="line">
            <a:avLst/>
          </a:prstGeom>
          <a:ln w="12700">
            <a:solidFill>
              <a:srgbClr val="20364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21207" y="11036808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SHIVANI SETHI   •   MBA BUSINESS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1036808"/>
            <a:ext cx="114300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9C5"/>
                </a:solidFill>
                <a:latin typeface="Inter"/>
              </a:rPr>
              <a:t>FY 2024–FY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" y="960120"/>
            <a:ext cx="78638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CAA7"/>
                </a:solidFill>
                <a:latin typeface="Inter"/>
              </a:rPr>
              <a:t>ACTION PLAN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8065008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From financial insight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Inter"/>
              </a:rPr>
              <a:t>to business 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68880"/>
            <a:ext cx="80010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B9C5"/>
                </a:solidFill>
                <a:latin typeface="Inter"/>
              </a:rPr>
              <a:t>Proposed actions for Inox Wind — not company commitments.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0352" y="3127248"/>
            <a:ext cx="8083296" cy="1261872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94944" y="3364991"/>
            <a:ext cx="484632" cy="48463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06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B31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53312" y="3246120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0–30 DAYS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520440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IMPROVE CASH VISIBILITY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41063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9C5"/>
                </a:solidFill>
                <a:latin typeface="Inter"/>
              </a:rPr>
              <a:t>Rolling 13-week forecast, customer-wise collection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4544568"/>
            <a:ext cx="8083296" cy="1261872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4782312"/>
            <a:ext cx="484632" cy="48463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4206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B31"/>
                </a:solidFill>
                <a:latin typeface="Int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3312" y="4663440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30–90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3312" y="4937759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UNLOCK WORKING CAPITAL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5358383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9C5"/>
                </a:solidFill>
                <a:latin typeface="Inter"/>
              </a:rPr>
              <a:t>Link invoicing to milestones; resolve retention claims.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0352" y="5961888"/>
            <a:ext cx="8083296" cy="1261872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6199631"/>
            <a:ext cx="484632" cy="484632"/>
          </a:xfrm>
          <a:prstGeom prst="roundRect">
            <a:avLst>
              <a:gd name="adj" fmla="val 12000"/>
            </a:avLst>
          </a:prstGeom>
          <a:solidFill>
            <a:srgbClr val="1BC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6263640"/>
            <a:ext cx="4206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B31"/>
                </a:solidFill>
                <a:latin typeface="Inter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3312" y="6080759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30–90 DAYS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3312" y="6355079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PROTECT PROJECT MARGINS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3312" y="6775703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9C5"/>
                </a:solidFill>
                <a:latin typeface="Inter"/>
              </a:rPr>
              <a:t>Track procurement, subcontracting costs and cost overruns.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0352" y="7379208"/>
            <a:ext cx="8083296" cy="1261872"/>
          </a:xfrm>
          <a:prstGeom prst="roundRect">
            <a:avLst>
              <a:gd name="adj" fmla="val 12000"/>
            </a:avLst>
          </a:prstGeom>
          <a:solidFill>
            <a:srgbClr val="17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94944" y="7616952"/>
            <a:ext cx="484632" cy="484632"/>
          </a:xfrm>
          <a:prstGeom prst="roundRect">
            <a:avLst>
              <a:gd name="adj" fmla="val 12000"/>
            </a:avLst>
          </a:prstGeom>
          <a:solidFill>
            <a:srgbClr val="FFBD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7680960"/>
            <a:ext cx="420624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1B31"/>
                </a:solidFill>
                <a:latin typeface="Inter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3312" y="7498080"/>
            <a:ext cx="6355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8B9C5"/>
                </a:solidFill>
                <a:latin typeface="Inter"/>
              </a:rPr>
              <a:t>3–6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3312" y="7772400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Inter"/>
              </a:rPr>
              <a:t>ALIGN FUNDING &amp; RETURNS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3312" y="8193024"/>
            <a:ext cx="6821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8B9C5"/>
                </a:solidFill>
                <a:latin typeface="Inter"/>
              </a:rPr>
              <a:t>Review maturities, refinancing and ROE on new capital.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76072" y="9006840"/>
            <a:ext cx="7991856" cy="0"/>
          </a:xfrm>
          <a:prstGeom prst="line">
            <a:avLst/>
          </a:prstGeom>
          <a:ln w="12700">
            <a:solidFill>
              <a:srgbClr val="36536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12648" y="9208008"/>
            <a:ext cx="704088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BCAA7"/>
                </a:solidFill>
                <a:latin typeface="Inter"/>
              </a:rPr>
              <a:t>BOTTOM 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9546336"/>
            <a:ext cx="7927848" cy="6309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Inter"/>
              </a:rPr>
              <a:t>Inox’s ratio recovery is real in the reported accounts. Cash conversion is the priority.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" y="10305288"/>
            <a:ext cx="7918704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8B9C5"/>
                </a:solidFill>
                <a:latin typeface="Inter"/>
              </a:rPr>
              <a:t>Source: Inox Wind &amp; Suzlon Energy annual reports FY25/FY26; Screener. Historical academic analysis; not investment advice.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Beyond the Ratios | Inox Wind vs Suzlon Energy</dc:title>
  <dc:subject>Three-year financial performance comparison</dc:subject>
  <dc:creator>Shivani Sethi</dc:creator>
  <cp:keywords>finance, business analytics, comparison, ratio analysis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